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64" r:id="rId6"/>
    <p:sldId id="267" r:id="rId7"/>
    <p:sldId id="268" r:id="rId8"/>
    <p:sldId id="269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ing Touray" initials="ST" lastIdx="4" clrIdx="0">
    <p:extLst>
      <p:ext uri="{19B8F6BF-5375-455C-9EA6-DF929625EA0E}">
        <p15:presenceInfo xmlns:p15="http://schemas.microsoft.com/office/powerpoint/2012/main" userId="S::stouray@worldbank.org::1fe695f3-4923-40e6-a2bf-367e5a2e74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C378FE-0846-4CF0-A20D-1EECA308911C}" v="4" dt="2023-02-27T07:47:57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spere R. Backiny-Yetna" userId="342dcfad-9bdc-496e-a059-f57b9d824734" providerId="ADAL" clId="{B3C378FE-0846-4CF0-A20D-1EECA308911C}"/>
    <pc:docChg chg="custSel addSld delSld modSld">
      <pc:chgData name="Prospere R. Backiny-Yetna" userId="342dcfad-9bdc-496e-a059-f57b9d824734" providerId="ADAL" clId="{B3C378FE-0846-4CF0-A20D-1EECA308911C}" dt="2023-02-27T08:31:56.939" v="3401" actId="6549"/>
      <pc:docMkLst>
        <pc:docMk/>
      </pc:docMkLst>
      <pc:sldChg chg="modSp modAnim">
        <pc:chgData name="Prospere R. Backiny-Yetna" userId="342dcfad-9bdc-496e-a059-f57b9d824734" providerId="ADAL" clId="{B3C378FE-0846-4CF0-A20D-1EECA308911C}" dt="2023-02-27T07:46:37.372" v="2" actId="255"/>
        <pc:sldMkLst>
          <pc:docMk/>
          <pc:sldMk cId="2989346897" sldId="256"/>
        </pc:sldMkLst>
        <pc:spChg chg="mod">
          <ac:chgData name="Prospere R. Backiny-Yetna" userId="342dcfad-9bdc-496e-a059-f57b9d824734" providerId="ADAL" clId="{B3C378FE-0846-4CF0-A20D-1EECA308911C}" dt="2023-02-27T07:46:37.372" v="2" actId="255"/>
          <ac:spMkLst>
            <pc:docMk/>
            <pc:sldMk cId="2989346897" sldId="256"/>
            <ac:spMk id="3" creationId="{0DE44145-C524-4DA2-B25B-3D57D73202B4}"/>
          </ac:spMkLst>
        </pc:spChg>
      </pc:sldChg>
      <pc:sldChg chg="modSp mod">
        <pc:chgData name="Prospere R. Backiny-Yetna" userId="342dcfad-9bdc-496e-a059-f57b9d824734" providerId="ADAL" clId="{B3C378FE-0846-4CF0-A20D-1EECA308911C}" dt="2023-02-27T08:03:35.825" v="1354" actId="20577"/>
        <pc:sldMkLst>
          <pc:docMk/>
          <pc:sldMk cId="2346822351" sldId="257"/>
        </pc:sldMkLst>
        <pc:spChg chg="mod">
          <ac:chgData name="Prospere R. Backiny-Yetna" userId="342dcfad-9bdc-496e-a059-f57b9d824734" providerId="ADAL" clId="{B3C378FE-0846-4CF0-A20D-1EECA308911C}" dt="2023-02-27T07:48:41.041" v="74" actId="6549"/>
          <ac:spMkLst>
            <pc:docMk/>
            <pc:sldMk cId="2346822351" sldId="257"/>
            <ac:spMk id="2" creationId="{A3E4343B-1EB1-4003-B5A0-718CFDFE0C3D}"/>
          </ac:spMkLst>
        </pc:spChg>
        <pc:spChg chg="mod">
          <ac:chgData name="Prospere R. Backiny-Yetna" userId="342dcfad-9bdc-496e-a059-f57b9d824734" providerId="ADAL" clId="{B3C378FE-0846-4CF0-A20D-1EECA308911C}" dt="2023-02-27T08:03:35.825" v="1354" actId="20577"/>
          <ac:spMkLst>
            <pc:docMk/>
            <pc:sldMk cId="2346822351" sldId="257"/>
            <ac:spMk id="3" creationId="{C2D0825A-9898-43F0-9ADC-A8195358A9CE}"/>
          </ac:spMkLst>
        </pc:spChg>
      </pc:sldChg>
      <pc:sldChg chg="del">
        <pc:chgData name="Prospere R. Backiny-Yetna" userId="342dcfad-9bdc-496e-a059-f57b9d824734" providerId="ADAL" clId="{B3C378FE-0846-4CF0-A20D-1EECA308911C}" dt="2023-02-27T07:48:09.987" v="46" actId="47"/>
        <pc:sldMkLst>
          <pc:docMk/>
          <pc:sldMk cId="447916290" sldId="258"/>
        </pc:sldMkLst>
      </pc:sldChg>
      <pc:sldChg chg="modSp mod">
        <pc:chgData name="Prospere R. Backiny-Yetna" userId="342dcfad-9bdc-496e-a059-f57b9d824734" providerId="ADAL" clId="{B3C378FE-0846-4CF0-A20D-1EECA308911C}" dt="2023-02-27T08:21:49.317" v="2678" actId="6549"/>
        <pc:sldMkLst>
          <pc:docMk/>
          <pc:sldMk cId="3785331594" sldId="264"/>
        </pc:sldMkLst>
        <pc:spChg chg="mod">
          <ac:chgData name="Prospere R. Backiny-Yetna" userId="342dcfad-9bdc-496e-a059-f57b9d824734" providerId="ADAL" clId="{B3C378FE-0846-4CF0-A20D-1EECA308911C}" dt="2023-02-27T08:12:34.960" v="2138" actId="20577"/>
          <ac:spMkLst>
            <pc:docMk/>
            <pc:sldMk cId="3785331594" sldId="264"/>
            <ac:spMk id="2" creationId="{A3E4343B-1EB1-4003-B5A0-718CFDFE0C3D}"/>
          </ac:spMkLst>
        </pc:spChg>
        <pc:spChg chg="mod">
          <ac:chgData name="Prospere R. Backiny-Yetna" userId="342dcfad-9bdc-496e-a059-f57b9d824734" providerId="ADAL" clId="{B3C378FE-0846-4CF0-A20D-1EECA308911C}" dt="2023-02-27T08:21:49.317" v="2678" actId="6549"/>
          <ac:spMkLst>
            <pc:docMk/>
            <pc:sldMk cId="3785331594" sldId="264"/>
            <ac:spMk id="3" creationId="{C2D0825A-9898-43F0-9ADC-A8195358A9CE}"/>
          </ac:spMkLst>
        </pc:spChg>
      </pc:sldChg>
      <pc:sldChg chg="modSp add mod">
        <pc:chgData name="Prospere R. Backiny-Yetna" userId="342dcfad-9bdc-496e-a059-f57b9d824734" providerId="ADAL" clId="{B3C378FE-0846-4CF0-A20D-1EECA308911C}" dt="2023-02-27T08:07:14.949" v="1547" actId="6549"/>
        <pc:sldMkLst>
          <pc:docMk/>
          <pc:sldMk cId="1135738758" sldId="265"/>
        </pc:sldMkLst>
        <pc:spChg chg="mod">
          <ac:chgData name="Prospere R. Backiny-Yetna" userId="342dcfad-9bdc-496e-a059-f57b9d824734" providerId="ADAL" clId="{B3C378FE-0846-4CF0-A20D-1EECA308911C}" dt="2023-02-27T08:07:14.949" v="1547" actId="6549"/>
          <ac:spMkLst>
            <pc:docMk/>
            <pc:sldMk cId="1135738758" sldId="265"/>
            <ac:spMk id="2" creationId="{A3E4343B-1EB1-4003-B5A0-718CFDFE0C3D}"/>
          </ac:spMkLst>
        </pc:spChg>
        <pc:spChg chg="mod">
          <ac:chgData name="Prospere R. Backiny-Yetna" userId="342dcfad-9bdc-496e-a059-f57b9d824734" providerId="ADAL" clId="{B3C378FE-0846-4CF0-A20D-1EECA308911C}" dt="2023-02-27T08:06:10.854" v="1516" actId="27636"/>
          <ac:spMkLst>
            <pc:docMk/>
            <pc:sldMk cId="1135738758" sldId="265"/>
            <ac:spMk id="3" creationId="{C2D0825A-9898-43F0-9ADC-A8195358A9CE}"/>
          </ac:spMkLst>
        </pc:spChg>
      </pc:sldChg>
      <pc:sldChg chg="del">
        <pc:chgData name="Prospere R. Backiny-Yetna" userId="342dcfad-9bdc-496e-a059-f57b9d824734" providerId="ADAL" clId="{B3C378FE-0846-4CF0-A20D-1EECA308911C}" dt="2023-02-27T07:48:12.723" v="48" actId="47"/>
        <pc:sldMkLst>
          <pc:docMk/>
          <pc:sldMk cId="2111183685" sldId="265"/>
        </pc:sldMkLst>
      </pc:sldChg>
      <pc:sldChg chg="del">
        <pc:chgData name="Prospere R. Backiny-Yetna" userId="342dcfad-9bdc-496e-a059-f57b9d824734" providerId="ADAL" clId="{B3C378FE-0846-4CF0-A20D-1EECA308911C}" dt="2023-02-27T07:48:11.713" v="47" actId="47"/>
        <pc:sldMkLst>
          <pc:docMk/>
          <pc:sldMk cId="1271748269" sldId="266"/>
        </pc:sldMkLst>
      </pc:sldChg>
      <pc:sldChg chg="modSp add mod">
        <pc:chgData name="Prospere R. Backiny-Yetna" userId="342dcfad-9bdc-496e-a059-f57b9d824734" providerId="ADAL" clId="{B3C378FE-0846-4CF0-A20D-1EECA308911C}" dt="2023-02-27T08:11:23.558" v="2065" actId="20577"/>
        <pc:sldMkLst>
          <pc:docMk/>
          <pc:sldMk cId="4072696306" sldId="266"/>
        </pc:sldMkLst>
        <pc:spChg chg="mod">
          <ac:chgData name="Prospere R. Backiny-Yetna" userId="342dcfad-9bdc-496e-a059-f57b9d824734" providerId="ADAL" clId="{B3C378FE-0846-4CF0-A20D-1EECA308911C}" dt="2023-02-27T08:07:38.941" v="1548"/>
          <ac:spMkLst>
            <pc:docMk/>
            <pc:sldMk cId="4072696306" sldId="266"/>
            <ac:spMk id="2" creationId="{A3E4343B-1EB1-4003-B5A0-718CFDFE0C3D}"/>
          </ac:spMkLst>
        </pc:spChg>
        <pc:spChg chg="mod">
          <ac:chgData name="Prospere R. Backiny-Yetna" userId="342dcfad-9bdc-496e-a059-f57b9d824734" providerId="ADAL" clId="{B3C378FE-0846-4CF0-A20D-1EECA308911C}" dt="2023-02-27T08:11:23.558" v="2065" actId="20577"/>
          <ac:spMkLst>
            <pc:docMk/>
            <pc:sldMk cId="4072696306" sldId="266"/>
            <ac:spMk id="3" creationId="{C2D0825A-9898-43F0-9ADC-A8195358A9CE}"/>
          </ac:spMkLst>
        </pc:spChg>
      </pc:sldChg>
      <pc:sldChg chg="del">
        <pc:chgData name="Prospere R. Backiny-Yetna" userId="342dcfad-9bdc-496e-a059-f57b9d824734" providerId="ADAL" clId="{B3C378FE-0846-4CF0-A20D-1EECA308911C}" dt="2023-02-27T07:48:13.840" v="49" actId="47"/>
        <pc:sldMkLst>
          <pc:docMk/>
          <pc:sldMk cId="2001742812" sldId="267"/>
        </pc:sldMkLst>
      </pc:sldChg>
      <pc:sldChg chg="modSp add mod">
        <pc:chgData name="Prospere R. Backiny-Yetna" userId="342dcfad-9bdc-496e-a059-f57b9d824734" providerId="ADAL" clId="{B3C378FE-0846-4CF0-A20D-1EECA308911C}" dt="2023-02-27T08:25:23.955" v="2915" actId="20577"/>
        <pc:sldMkLst>
          <pc:docMk/>
          <pc:sldMk cId="2588403878" sldId="267"/>
        </pc:sldMkLst>
        <pc:spChg chg="mod">
          <ac:chgData name="Prospere R. Backiny-Yetna" userId="342dcfad-9bdc-496e-a059-f57b9d824734" providerId="ADAL" clId="{B3C378FE-0846-4CF0-A20D-1EECA308911C}" dt="2023-02-27T08:25:23.955" v="2915" actId="20577"/>
          <ac:spMkLst>
            <pc:docMk/>
            <pc:sldMk cId="2588403878" sldId="267"/>
            <ac:spMk id="3" creationId="{C2D0825A-9898-43F0-9ADC-A8195358A9CE}"/>
          </ac:spMkLst>
        </pc:spChg>
      </pc:sldChg>
      <pc:sldChg chg="del">
        <pc:chgData name="Prospere R. Backiny-Yetna" userId="342dcfad-9bdc-496e-a059-f57b9d824734" providerId="ADAL" clId="{B3C378FE-0846-4CF0-A20D-1EECA308911C}" dt="2023-02-27T07:48:14.853" v="50" actId="47"/>
        <pc:sldMkLst>
          <pc:docMk/>
          <pc:sldMk cId="1490782012" sldId="268"/>
        </pc:sldMkLst>
      </pc:sldChg>
      <pc:sldChg chg="modSp add mod">
        <pc:chgData name="Prospere R. Backiny-Yetna" userId="342dcfad-9bdc-496e-a059-f57b9d824734" providerId="ADAL" clId="{B3C378FE-0846-4CF0-A20D-1EECA308911C}" dt="2023-02-27T08:27:13.644" v="3048" actId="6549"/>
        <pc:sldMkLst>
          <pc:docMk/>
          <pc:sldMk cId="3260916147" sldId="268"/>
        </pc:sldMkLst>
        <pc:spChg chg="mod">
          <ac:chgData name="Prospere R. Backiny-Yetna" userId="342dcfad-9bdc-496e-a059-f57b9d824734" providerId="ADAL" clId="{B3C378FE-0846-4CF0-A20D-1EECA308911C}" dt="2023-02-27T08:27:13.644" v="3048" actId="6549"/>
          <ac:spMkLst>
            <pc:docMk/>
            <pc:sldMk cId="3260916147" sldId="268"/>
            <ac:spMk id="3" creationId="{C2D0825A-9898-43F0-9ADC-A8195358A9CE}"/>
          </ac:spMkLst>
        </pc:spChg>
      </pc:sldChg>
      <pc:sldChg chg="modSp add mod">
        <pc:chgData name="Prospere R. Backiny-Yetna" userId="342dcfad-9bdc-496e-a059-f57b9d824734" providerId="ADAL" clId="{B3C378FE-0846-4CF0-A20D-1EECA308911C}" dt="2023-02-27T08:31:56.939" v="3401" actId="6549"/>
        <pc:sldMkLst>
          <pc:docMk/>
          <pc:sldMk cId="3552966300" sldId="269"/>
        </pc:sldMkLst>
        <pc:spChg chg="mod">
          <ac:chgData name="Prospere R. Backiny-Yetna" userId="342dcfad-9bdc-496e-a059-f57b9d824734" providerId="ADAL" clId="{B3C378FE-0846-4CF0-A20D-1EECA308911C}" dt="2023-02-27T08:28:57.855" v="3068" actId="6549"/>
          <ac:spMkLst>
            <pc:docMk/>
            <pc:sldMk cId="3552966300" sldId="269"/>
            <ac:spMk id="2" creationId="{A3E4343B-1EB1-4003-B5A0-718CFDFE0C3D}"/>
          </ac:spMkLst>
        </pc:spChg>
        <pc:spChg chg="mod">
          <ac:chgData name="Prospere R. Backiny-Yetna" userId="342dcfad-9bdc-496e-a059-f57b9d824734" providerId="ADAL" clId="{B3C378FE-0846-4CF0-A20D-1EECA308911C}" dt="2023-02-27T08:31:56.939" v="3401" actId="6549"/>
          <ac:spMkLst>
            <pc:docMk/>
            <pc:sldMk cId="3552966300" sldId="269"/>
            <ac:spMk id="3" creationId="{C2D0825A-9898-43F0-9ADC-A8195358A9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4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5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75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2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84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1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0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6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0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5672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259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9385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2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271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92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82515E8-7AC1-40F7-9D01-BBFB1E6CC8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1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73489-0B27-42D3-A839-168FB4312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5975" y="209864"/>
            <a:ext cx="8131550" cy="2965399"/>
          </a:xfrm>
        </p:spPr>
        <p:txBody>
          <a:bodyPr>
            <a:normAutofit/>
          </a:bodyPr>
          <a:lstStyle/>
          <a:p>
            <a:r>
              <a:rPr lang="fr-FR" sz="2800" dirty="0"/>
              <a:t>Programme de modernisation et d’harmonisation des enquêtes auprès des ménages dans les Etats membres de l’UEMOA</a:t>
            </a:r>
            <a:br>
              <a:rPr lang="fr-FR" sz="2800" dirty="0"/>
            </a:br>
            <a:r>
              <a:rPr lang="fr-FR" sz="2800" dirty="0"/>
              <a:t>Enquête de 2021/22 </a:t>
            </a:r>
            <a:br>
              <a:rPr lang="fr-FR" sz="2800" dirty="0"/>
            </a:br>
            <a:r>
              <a:rPr lang="fr-FR" sz="2800" dirty="0"/>
              <a:t>Quatrième Atelier de Traitement des données</a:t>
            </a:r>
            <a:br>
              <a:rPr lang="fr-FR" sz="2800" dirty="0"/>
            </a:br>
            <a:r>
              <a:rPr lang="fr-FR" sz="2800" dirty="0"/>
              <a:t>20 février au 03 mars 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44145-C524-4DA2-B25B-3D57D7320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9869" y="3668485"/>
            <a:ext cx="8131550" cy="2480436"/>
          </a:xfrm>
        </p:spPr>
        <p:txBody>
          <a:bodyPr>
            <a:normAutofit/>
          </a:bodyPr>
          <a:lstStyle/>
          <a:p>
            <a:r>
              <a:rPr lang="fr-FR" sz="2400" dirty="0"/>
              <a:t>Mesure de la pauvreté : scénarios pour la construction des seuils de pauvreté </a:t>
            </a:r>
          </a:p>
          <a:p>
            <a:r>
              <a:rPr lang="fr-FR" sz="2400" dirty="0"/>
              <a:t>P. Backiny-Yetna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8934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343B-1EB1-4003-B5A0-718CFDFE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968" y="232224"/>
            <a:ext cx="8911687" cy="5495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Principe fondamental: comparabilité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825A-9898-43F0-9ADC-A8195358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537"/>
            <a:ext cx="8915400" cy="5202234"/>
          </a:xfrm>
        </p:spPr>
        <p:txBody>
          <a:bodyPr>
            <a:normAutofit fontScale="92500" lnSpcReduction="10000"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Rappel: trois ingrédients sont nécessaires pour assurer la comparabilité des indicateurs produits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Plan conceptuel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Plan de sondage: base de sondage reflétant les mêmes réalités, plan de sondage au moins représentatif au même niveau géographique 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Questionnaire: concepts et définitions utilisées, méthode de collecte de données de consommation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Mise en œuvre </a:t>
            </a: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Période de collecte de données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Organisation de la collecte  et administration du questionnaire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Méthodologie de mesure de la pauvreté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Indicateur de mesure du bien-être (classement des ménages)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Méthode de calcul du seuil de pauvreté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682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343B-1EB1-4003-B5A0-718CFDFE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968" y="232224"/>
            <a:ext cx="8911687" cy="5495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Respect du principe de comparabilité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825A-9898-43F0-9ADC-A8195358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537"/>
            <a:ext cx="8915400" cy="5202234"/>
          </a:xfrm>
        </p:spPr>
        <p:txBody>
          <a:bodyPr>
            <a:normAutofit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Constat: l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’épisode 2 a essayé d’être aussi proche que possible de l’épisode 1, avec quelques détails auxquels in faudra faire attention</a:t>
            </a: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Plan conceptuel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Pays ayant changé de base de sondage (BFA)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Pays ayant une nouveau recensement posant des difficultés de comparabilité en population ou en structure (CIV)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Détails sur l’augmentation du nombre de produits de consommation dans presque tous les pays</a:t>
            </a: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Mise en œuvre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Décalage dans la période de collecte des données (possible effet fin d’année dans certains pays)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3573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343B-1EB1-4003-B5A0-718CFDFE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968" y="232224"/>
            <a:ext cx="8911687" cy="5495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Respect du principe de comparabilité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825A-9898-43F0-9ADC-A8195358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537"/>
            <a:ext cx="8915400" cy="5202234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Méthodologie de mesure de la pauvreté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L’agrégat de consommation devrait être aussi proche que possible, sauf exclusion des dépenses d’hospitalisation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L’ajout des quelques produits devraient être testés, par exemple en comparant le produit en 2018 et les produits éclatés en 2021 (en total et en évolution avec les autres)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Cette présentation continue avec les seuils de pauvreté, avec l’idée de tenir au principe de comparabilité 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269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343B-1EB1-4003-B5A0-718CFDFE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968" y="232224"/>
            <a:ext cx="8911687" cy="5495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Seuils de pauvreté: trois approches et deux variantes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825A-9898-43F0-9ADC-A8195358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537"/>
            <a:ext cx="8915400" cy="5202234"/>
          </a:xfrm>
        </p:spPr>
        <p:txBody>
          <a:bodyPr>
            <a:normAutofit lnSpcReduction="10000"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Approche 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Seuil 2021 égal seuil 2018 multiplié par le taux d’inflation entre 2018 et 2021, tel que calculé par l’IHPC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Peut-on le retenir: en général non, car le champ de consommation des ménages autour du seuil est différent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Intérêt: benchmark, sauf exception, le seuil calculé par les autres approches devraient en être proche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Comment combiner avec les déflateurs? Deux variantes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Variante 1: déflateurs temporels calculés de l'IHPC et spatiaux ceux du volet prix de l’EHCVM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Variante 2: déflateurs temporels et spatiaux calculés du volet prix de l’EHCVM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533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343B-1EB1-4003-B5A0-718CFDFE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968" y="232224"/>
            <a:ext cx="8911687" cy="5495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Seuils de pauvreté: trois approches et deux variantes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825A-9898-43F0-9ADC-A8195358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537"/>
            <a:ext cx="8915400" cy="5202234"/>
          </a:xfrm>
        </p:spPr>
        <p:txBody>
          <a:bodyPr>
            <a:normAutofit lnSpcReduction="10000"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Approche 2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Seuil de 2021 avec un nouveau panier (comme en 2018)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Peut-on le retenir: oui, il reflète les habitudes de consommation du moment, même s’il y a eu des changements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Difficulté: tester la comparabilité avec le panier de 2018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Comment combiner avec les déflateurs? Deux variantes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Variante 1: déflateurs temporels calculés des prix de l’EHCVM et spatiaux par le rapport des seuils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Variante 2: déflateurs temporels et spatiaux calculés du volet prix de l’EHCVM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840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343B-1EB1-4003-B5A0-718CFDFE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968" y="232224"/>
            <a:ext cx="8911687" cy="5495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Seuils de pauvreté: trois approches et deux variantes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825A-9898-43F0-9ADC-A8195358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537"/>
            <a:ext cx="8915400" cy="5202234"/>
          </a:xfrm>
        </p:spPr>
        <p:txBody>
          <a:bodyPr>
            <a:normAutofit lnSpcReduction="10000"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Approche 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Seuil de 2021 en utilisant le panier de 2018 et en appliquant les prix de 2021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Peut-on le retenir: oui, mais peut poser problème si les habitudes de consommation ont trop changé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Difficulté: tester la comparabilité avec le panier de 2021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Comment combiner avec les déflateurs? Deux variantes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Variante 1: déflateurs temporels calculés des prix de l’EHCVM et spatiaux par le rapport des seuils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Variante 2: déflateurs temporels et spatiaux calculés du volet prix de l’EHCVM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091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343B-1EB1-4003-B5A0-718CFDFE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968" y="232224"/>
            <a:ext cx="8911687" cy="5495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Points importants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825A-9898-43F0-9ADC-A8195358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6537"/>
            <a:ext cx="8915400" cy="5202234"/>
          </a:xfrm>
        </p:spPr>
        <p:txBody>
          <a:bodyPr>
            <a:normAutofit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Détails importants pour assurer la comparabilité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Pour l’approche 2, reprendre pour chaque pays les hypothèses formulées en 2018, par exemple population retenue pour le panier, etc.</a:t>
            </a:r>
          </a:p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En définitive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La comparabilité ne sera bonne (pas parfaite) que si l’on fait attention à tous </a:t>
            </a:r>
            <a:r>
              <a:rPr lang="fr-FR" sz="2600">
                <a:latin typeface="Calibri" panose="020F0502020204030204" pitchFamily="34" charset="0"/>
                <a:cs typeface="Calibri" panose="020F0502020204030204" pitchFamily="34" charset="0"/>
              </a:rPr>
              <a:t>les détails</a:t>
            </a:r>
            <a:endParaRPr lang="fr-FR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2966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6258-7F8A-4C3A-81FF-B95C65D5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1756012"/>
            <a:ext cx="7013576" cy="311704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Merci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89006-3494-4634-9227-45D00E172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07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5941</TotalTime>
  <Words>656</Words>
  <Application>Microsoft Office PowerPoint</Application>
  <PresentationFormat>Widescreen</PresentationFormat>
  <Paragraphs>182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Courier New</vt:lpstr>
      <vt:lpstr>Wingdings 3</vt:lpstr>
      <vt:lpstr>Wisp</vt:lpstr>
      <vt:lpstr>Programme de modernisation et d’harmonisation des enquêtes auprès des ménages dans les Etats membres de l’UEMOA Enquête de 2021/22  Quatrième Atelier de Traitement des données 20 février au 03 mars 2023</vt:lpstr>
      <vt:lpstr>Principe fondamental: comparabilité</vt:lpstr>
      <vt:lpstr>Respect du principe de comparabilité</vt:lpstr>
      <vt:lpstr>Respect du principe de comparabilité</vt:lpstr>
      <vt:lpstr>Seuils de pauvreté: trois approches et deux variantes</vt:lpstr>
      <vt:lpstr>Seuils de pauvreté: trois approches et deux variantes</vt:lpstr>
      <vt:lpstr>Seuils de pauvreté: trois approches et deux variantes</vt:lpstr>
      <vt:lpstr>Points importants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Poverty Measurement in WAEMU Members States</dc:title>
  <dc:creator>Prospere R. Backiny-Yetna</dc:creator>
  <cp:lastModifiedBy>Prospere R. Backiny-Yetna</cp:lastModifiedBy>
  <cp:revision>26</cp:revision>
  <dcterms:created xsi:type="dcterms:W3CDTF">2022-07-04T09:12:58Z</dcterms:created>
  <dcterms:modified xsi:type="dcterms:W3CDTF">2023-02-27T08:31:58Z</dcterms:modified>
</cp:coreProperties>
</file>